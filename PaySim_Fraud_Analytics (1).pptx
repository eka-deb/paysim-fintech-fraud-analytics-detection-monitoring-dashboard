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Fraud 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bubble3D val="0"/>
            <c:spPr>
              <a:solidFill>
                <a:srgbClr val="E6394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Flagged (1)</c:v>
                </c:pt>
                <c:pt idx="1">
                  <c:v>Unflagged (931)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</c:v>
                </c:pt>
                <c:pt idx="1">
                  <c:v>931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Unflagged fraud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Cash_Out</c:v>
                  </c:pt>
                  <c:pt idx="1">
                    <c:v>Transfer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472</c:v>
                </c:pt>
                <c:pt idx="1">
                  <c:v>459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%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Cash_Out</c:v>
                  </c:pt>
                  <c:pt idx="1">
                    <c:v>Transfer</c:v>
                  </c:pt>
                  <c:pt idx="2">
                    <c:v>Overall baseline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</c:v>
                </c:pt>
                <c:pt idx="1">
                  <c:v>0.64</c:v>
                </c:pt>
                <c:pt idx="2">
                  <c:v>0.13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solidFill>
            <a:srgbClr val="27307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365760"/>
            <a:ext cx="2011680" cy="2011680"/>
          </a:xfrm>
          <a:prstGeom prst="ellipse">
            <a:avLst/>
          </a:prstGeom>
          <a:solidFill>
            <a:srgbClr val="E63946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&amp; RISK MONITORING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PaySim FinTech Fraud Analytics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707K mobile-money transactions into a monitoring plan for where fraud actually happens.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27307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519379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707K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77900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analyzed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50749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27307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519379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0.13%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577900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fraud 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50749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27307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0" y="519379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0.11%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577900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rate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Power Query  →  PostgreSQL  → 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rare in mobile-money transactions — but expensive when it happens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760720" cy="4480560"/>
          </a:xfrm>
          <a:prstGeom prst="roundRect">
            <a:avLst>
              <a:gd name="adj" fmla="val 1633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needed answers to three things: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5212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fraud is actually occurring, and what is it costing?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existing automated fraud-flagging system actually catching it?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transaction types, value ranges, and accounts carry the most risk?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75120" y="1737360"/>
            <a:ext cx="4846320" cy="1399032"/>
          </a:xfrm>
          <a:prstGeom prst="roundRect">
            <a:avLst>
              <a:gd name="adj" fmla="val 22876"/>
            </a:avLst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188366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0" y="188366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856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22402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transaction performance and risk distribution?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75120" y="3337560"/>
            <a:ext cx="4846320" cy="1399032"/>
          </a:xfrm>
          <a:prstGeom prst="roundRect">
            <a:avLst>
              <a:gd name="adj" fmla="val 22876"/>
            </a:avLst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0" y="348386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0" y="348386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F&amp;RM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3456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Risk Monitoring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38404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effective is the existing fraud mechanism? Where should management focus monitoring?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75120" y="4937760"/>
            <a:ext cx="4846320" cy="1399032"/>
          </a:xfrm>
          <a:prstGeom prst="roundRect">
            <a:avLst>
              <a:gd name="adj" fmla="val 22876"/>
            </a:avLst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508406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0" y="508406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B&amp;TP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5056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&amp; Transaction Pattern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54406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transaction pattern is associated with fraud? Are accounts linked to repeated fraud?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185855" y="6355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Methodology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Power Query  →  PostgreSQL  →  Power BI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86000"/>
            <a:ext cx="685800" cy="685800"/>
          </a:xfrm>
          <a:prstGeom prst="ellipse">
            <a:avLst/>
          </a:prstGeom>
          <a:solidFill>
            <a:srgbClr val="3A46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54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Power Query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118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inspection &amp; cleaning of the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PaySim transaction export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178808" y="3749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80560" y="20116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22860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154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6118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transactions table;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Amount_band, Fraud_status,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balance-change &amp; Hour_of_day fields;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of volume, fraud rate,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effectiveness &amp; repeat accounts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019288" y="3749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321040" y="20116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8595360" y="2286000"/>
            <a:ext cx="685800" cy="6858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9536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3154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36118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linked dashboard with slicers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Fraud_status, Amount_band,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&amp; Transaction_type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techniques: FILTER-based conditional counts, window functions for share-of-total, banding &amp; derived risk fields, HAVING-clause repeat-offender detection.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85855" y="6355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rare by count, but disproportionate in value — and almost invisible to current controls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65960"/>
            <a:ext cx="2606040" cy="73152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4884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932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7432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transactions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004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707K total (0.13%)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96596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0" y="1965960"/>
            <a:ext cx="2606040" cy="73152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39312" y="214884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1.37bn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27432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risk from fraud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2004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127.05bn total transaction value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96596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1965960"/>
            <a:ext cx="2606040" cy="73152"/>
          </a:xfrm>
          <a:prstGeom prst="roundRect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73952" y="214884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0.11%</a:t>
            </a:r>
            <a:endParaRPr lang="en-US" sz="27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27432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rate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73952" y="32004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1 of 932 fraud cases flagged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0" y="196596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0" y="1965960"/>
            <a:ext cx="2606040" cy="73152"/>
          </a:xfrm>
          <a:prstGeom prst="roundRect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08592" y="214884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931</a:t>
            </a:r>
            <a:endParaRPr lang="en-US" sz="2700" dirty="0"/>
          </a:p>
        </p:txBody>
      </p:sp>
      <p:sp>
        <p:nvSpPr>
          <p:cNvPr id="22" name="Text 20"/>
          <p:cNvSpPr txBox="1"/>
          <p:nvPr/>
        </p:nvSpPr>
        <p:spPr>
          <a:xfrm>
            <a:off x="9308592" y="27432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Unflagged fraud cases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308592" y="32004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Cash_Out: 472 · Transfer: 459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Effectiveness</a:t>
            </a:r>
            <a:endParaRPr lang="en-US" sz="14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40080" y="4572000"/>
          <a:ext cx="356616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475488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Unflagged Fraud by Transaction Type</a:t>
            </a:r>
            <a:endParaRPr lang="en-US" sz="1400" dirty="0"/>
          </a:p>
        </p:txBody>
      </p:sp>
      <p:graphicFrame>
        <p:nvGraphicFramePr>
          <p:cNvPr id="27" name="Chart 1" descr=""/>
          <p:cNvGraphicFramePr/>
          <p:nvPr/>
        </p:nvGraphicFramePr>
        <p:xfrm>
          <a:off x="4754880" y="4572000"/>
          <a:ext cx="630936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Text 24"/>
          <p:cNvSpPr/>
          <p:nvPr/>
        </p:nvSpPr>
        <p:spPr>
          <a:xfrm>
            <a:off x="11185855" y="6355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Fraud Insights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follows a tight pattern: two channels, one value band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— "High" Amount Band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148840"/>
          <a:ext cx="548640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029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Cash_Out and Transfer inside the High band run at 5x the overall fraud rate. (Behavior &amp; Pattern page, filtered to Amount_band = "High".)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92240" y="173736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8" name="Shape 5"/>
          <p:cNvSpPr/>
          <p:nvPr/>
        </p:nvSpPr>
        <p:spPr>
          <a:xfrm>
            <a:off x="6693408" y="1938528"/>
            <a:ext cx="146304" cy="14630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949440" y="185623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Two-channel concentration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693408" y="21945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fraudulent transaction in the dataset occurred as a Transfer or Cash_Out — no fraud in Payment, Cash_In, or Debit.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92240" y="333756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6693408" y="3538728"/>
            <a:ext cx="146304" cy="14630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949440" y="345643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Value-band concentration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693408" y="37947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to the "High" amount band, fraud rates jump well above baseline — high-value transactions are not an even risk spread.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92240" y="493776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16" name="Shape 13"/>
          <p:cNvSpPr/>
          <p:nvPr/>
        </p:nvSpPr>
        <p:spPr>
          <a:xfrm>
            <a:off x="6693408" y="5138928"/>
            <a:ext cx="146304" cy="14630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949440" y="505663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Repeat-account signal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693408" y="53949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accounts with more than one fraudulent transaction were isolated for review; several stand-alone very-high-value transfers (10,000,000 each) warrant manual follow-up.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185855" y="6355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480560"/>
            <a:ext cx="3657600" cy="3657600"/>
          </a:xfrm>
          <a:prstGeom prst="ellipse">
            <a:avLst/>
          </a:prstGeom>
          <a:solidFill>
            <a:srgbClr val="27307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143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focus control effort next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639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470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flagging logic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945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0.11% detection rate against fraud concentrated in two channels means the system needs a redesign, not a tune-up.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77063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639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7432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Transfer &amp; Cash_Out, high value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09067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carry 5x the baseline fraud rate — apply tighter checks here first.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66674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639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666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6393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real-time value alerts / holds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986784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verification or delayed settlement on very-high-value Cash_Out and Transfer transactions.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456285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639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562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5354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repeat-offender accounts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882896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accounts with multiple fraud events are the clearest signal of targeted fraud.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54589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639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458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431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detection rate as a KPI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577900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whether flagging improvements actually move the needle, alongside fraud rate.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63550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here is rare but expensive, highly concentrated, and largely undetected today — the data points to exactly where that changes first.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2026-08-28T20:58:26Z</dcterms:created>
  <dcterms:modified xsi:type="dcterms:W3CDTF">2026-08-28T20:58:26Z</dcterms:modified>
</cp:coreProperties>
</file>